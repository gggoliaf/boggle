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Calibri" pitchFamily="34" charset="0"/>
      <p:regular r:id="rId8"/>
      <p:bold r:id="rId9"/>
      <p:italic r:id="rId10"/>
      <p:boldItalic r:id="rId11"/>
    </p:embeddedFont>
    <p:embeddedFont>
      <p:font typeface="Segoe UI Light" pitchFamily="34" charset="0"/>
      <p:regular r:id="rId12"/>
      <p:italic r:id="rId13"/>
    </p:embeddedFont>
    <p:embeddedFont>
      <p:font typeface="DM Sans SemiBold" charset="0"/>
      <p:regular r:id="rId14"/>
    </p:embeddedFont>
    <p:embeddedFont>
      <p:font typeface="Segoe UI Semibold" pitchFamily="34" charset="0"/>
      <p:bold r:id="rId15"/>
      <p:boldItalic r:id="rId16"/>
    </p:embeddedFont>
    <p:embeddedFont>
      <p:font typeface="DM Sans Bold" charset="0"/>
      <p:regular r:id="rId17"/>
    </p:embeddedFont>
    <p:embeddedFont>
      <p:font typeface="DM Sans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E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954" y="-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-3-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-3-3.svg"/><Relationship Id="rId4" Type="http://schemas.openxmlformats.org/officeDocument/2006/relationships/image" Target="../media/image6.png"/><Relationship Id="rId9" Type="http://schemas.openxmlformats.org/officeDocument/2006/relationships/image" Target="../media/image-3-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5.svg"/><Relationship Id="rId13" Type="http://schemas.openxmlformats.org/officeDocument/2006/relationships/image" Target="../media/image-4-5.svg"/><Relationship Id="rId3" Type="http://schemas.openxmlformats.org/officeDocument/2006/relationships/image" Target="../media/image9.png"/><Relationship Id="rId7" Type="http://schemas.openxmlformats.org/officeDocument/2006/relationships/image" Target="../media/image-4-5.svg"/><Relationship Id="rId17" Type="http://schemas.openxmlformats.org/officeDocument/2006/relationships/image" Target="../media/image-4-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-4-5.svg"/><Relationship Id="rId5" Type="http://schemas.openxmlformats.org/officeDocument/2006/relationships/image" Target="../media/image-4-3.svg"/><Relationship Id="rId15" Type="http://schemas.openxmlformats.org/officeDocument/2006/relationships/image" Target="../media/image-4-5.svg"/><Relationship Id="rId4" Type="http://schemas.openxmlformats.org/officeDocument/2006/relationships/image" Target="../media/image10.png"/><Relationship Id="rId9" Type="http://schemas.openxmlformats.org/officeDocument/2006/relationships/image" Target="../media/image-4-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429125" y="0"/>
            <a:ext cx="7864532" cy="6858000"/>
          </a:xfrm>
          <a:prstGeom prst="rect">
            <a:avLst/>
          </a:prstGeom>
          <a:solidFill>
            <a:srgbClr val="FFF6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4890"/>
            <a:ext cx="3250240" cy="82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Филворд</a:t>
            </a:r>
            <a:endParaRPr lang="en-US" sz="650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3209925"/>
            <a:ext cx="5431869" cy="248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 SemiBold" pitchFamily="34" charset="-122"/>
                <a:cs typeface="Segoe UI Semibold" pitchFamily="34" charset="0"/>
              </a:rPr>
              <a:t>Языковая игра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 SemiBold" pitchFamily="34" charset="-122"/>
                <a:cs typeface="Segoe UI Semibold" pitchFamily="34" charset="0"/>
              </a:rPr>
              <a:t>на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 SemiBold" pitchFamily="34" charset="-122"/>
                <a:cs typeface="Segoe UI Semibold" pitchFamily="34" charset="0"/>
              </a:rPr>
              <a:t>осетинском языке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Segoe UI Semibold" pitchFamily="34" charset="0"/>
              <a:cs typeface="Segoe UI Semibold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360" y="3815542"/>
            <a:ext cx="1441760" cy="300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 smtClean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 Bold" pitchFamily="34" charset="-122"/>
                <a:cs typeface="Segoe UI Semibold" pitchFamily="34" charset="0"/>
              </a:rPr>
              <a:t>Автор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 Bold" pitchFamily="34" charset="-122"/>
                <a:cs typeface="Segoe UI Semibold" pitchFamily="34" charset="0"/>
              </a:rPr>
              <a:t>: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" pitchFamily="34" charset="-122"/>
                <a:cs typeface="Segoe UI Semibold" pitchFamily="34" charset="0"/>
              </a:rPr>
              <a:t> </a:t>
            </a:r>
            <a:r>
              <a:rPr lang="ru-RU" sz="1300" dirty="0" smtClean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DM Sans" pitchFamily="34" charset="-122"/>
                <a:cs typeface="Segoe UI Semibold" pitchFamily="34" charset="0"/>
              </a:rPr>
              <a:t>Леков Д.Т.</a:t>
            </a:r>
            <a:endParaRPr lang="en-US" sz="1300" dirty="0">
              <a:solidFill>
                <a:schemeClr val="accent2">
                  <a:lumMod val="75000"/>
                </a:schemeClr>
              </a:solidFill>
              <a:latin typeface="Segoe UI Semibold" pitchFamily="34" charset="0"/>
              <a:cs typeface="Segoe UI Semi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2110020" y="1463039"/>
            <a:ext cx="126104" cy="126107"/>
          </a:xfrm>
          <a:prstGeom prst="rect">
            <a:avLst/>
          </a:prstGeom>
          <a:solidFill>
            <a:srgbClr val="911E1B"/>
          </a:solidFill>
          <a:ln/>
        </p:spPr>
      </p:sp>
      <p:sp>
        <p:nvSpPr>
          <p:cNvPr id="4" name="Text 2"/>
          <p:cNvSpPr/>
          <p:nvPr/>
        </p:nvSpPr>
        <p:spPr>
          <a:xfrm>
            <a:off x="2339181" y="1392097"/>
            <a:ext cx="3438165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31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Об игре </a:t>
            </a:r>
            <a:r>
              <a:rPr lang="en-US" sz="31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“</a:t>
            </a:r>
            <a:r>
              <a:rPr lang="ru-RU" sz="31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Филворд</a:t>
            </a:r>
            <a:r>
              <a:rPr lang="en-US" sz="31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”</a:t>
            </a:r>
            <a:endParaRPr lang="en-US" sz="310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0159" y="5266234"/>
            <a:ext cx="6367402" cy="1905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6286" y="668536"/>
            <a:ext cx="4343688" cy="5568155"/>
          </a:xfrm>
          <a:prstGeom prst="roundRect">
            <a:avLst>
              <a:gd name="adj" fmla="val 2613"/>
            </a:avLst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857342" y="2944252"/>
            <a:ext cx="5618273" cy="186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Филворд — это головоломка с поиском слов на игровом поле из букв. Игра помогает в освоении осетинского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языка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 через увлекательный игровой процесс, делая обучение естественным и приятным.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40" y="3743517"/>
            <a:ext cx="4032661" cy="2128057"/>
          </a:xfrm>
          <a:prstGeom prst="rect">
            <a:avLst/>
          </a:prstGeom>
        </p:spPr>
      </p:pic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463840" y="1122217"/>
            <a:ext cx="4032661" cy="1986742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520159" y="2266950"/>
            <a:ext cx="6367402" cy="19050"/>
          </a:xfrm>
          <a:prstGeom prst="rect">
            <a:avLst/>
          </a:prstGeom>
          <a:solidFill>
            <a:srgbClr val="E07A5F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10445"/>
            <a:ext cx="4744323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Целевая аудитория</a:t>
            </a:r>
            <a:endParaRPr lang="en-US" sz="3250" b="1" dirty="0"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61475" y="3271937"/>
            <a:ext cx="3512653" cy="2426990"/>
          </a:xfrm>
          <a:prstGeom prst="roundRect">
            <a:avLst>
              <a:gd name="adj" fmla="val 2862"/>
            </a:avLst>
          </a:prstGeom>
          <a:solidFill>
            <a:srgbClr val="EFE8DD"/>
          </a:solidFill>
          <a:ln w="6350">
            <a:solidFill>
              <a:srgbClr val="D5CEC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3119" y="3443585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E07A5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69541" y="3580011"/>
            <a:ext cx="223237" cy="2232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3119" y="4104977"/>
            <a:ext cx="248080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Дети от 8 лет</a:t>
            </a:r>
            <a:endParaRPr lang="en-US" sz="195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3119" y="4452243"/>
            <a:ext cx="3169364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Игра доступна и понятна младшим школьникам. Тематические категории слов помогают детям расширять словарный запас на осетинском языке в игровой форме.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39422" y="3271937"/>
            <a:ext cx="3512752" cy="2426990"/>
          </a:xfrm>
          <a:prstGeom prst="roundRect">
            <a:avLst>
              <a:gd name="adj" fmla="val 2862"/>
            </a:avLst>
          </a:prstGeom>
          <a:solidFill>
            <a:srgbClr val="EFE8DD"/>
          </a:solidFill>
          <a:ln w="6350">
            <a:solidFill>
              <a:srgbClr val="D5CEC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11066" y="3443585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E07A5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47488" y="3580011"/>
            <a:ext cx="223237" cy="2232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11066" y="4104977"/>
            <a:ext cx="248080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Взрослые и семьи</a:t>
            </a:r>
            <a:endParaRPr lang="en-US" sz="195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511066" y="4452243"/>
            <a:ext cx="3169464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Головоломка подходит </a:t>
            </a:r>
            <a:r>
              <a:rPr lang="en-US" sz="1300" dirty="0" err="1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</a:t>
            </a: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всех, кто любит поисковые игры и тренировку лексики. Универсальный формат делает её отличным выбором </a:t>
            </a:r>
            <a:r>
              <a:rPr lang="en-US" sz="1300" dirty="0" err="1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</a:t>
            </a: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семейного досуга.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017468" y="3271937"/>
            <a:ext cx="3512653" cy="2426990"/>
          </a:xfrm>
          <a:prstGeom prst="roundRect">
            <a:avLst>
              <a:gd name="adj" fmla="val 2862"/>
            </a:avLst>
          </a:prstGeom>
          <a:solidFill>
            <a:srgbClr val="EFE8DD"/>
          </a:solidFill>
          <a:ln w="6350">
            <a:solidFill>
              <a:srgbClr val="D5CEC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189112" y="3443585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E07A5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25535" y="3580011"/>
            <a:ext cx="223237" cy="2232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89112" y="4104977"/>
            <a:ext cx="248080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Изучающие язык</a:t>
            </a:r>
            <a:endParaRPr lang="en-US" sz="195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189112" y="4452243"/>
            <a:ext cx="3169364" cy="86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Идеально </a:t>
            </a:r>
            <a:r>
              <a:rPr lang="en-US" sz="1300" dirty="0" err="1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</a:t>
            </a: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тех, кто изучает осетинский язык или хочет поддерживать языковую практику </a:t>
            </a:r>
            <a:r>
              <a:rPr lang="en-US" sz="1300" dirty="0" err="1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через</a:t>
            </a:r>
            <a:r>
              <a:rPr lang="en-US" sz="13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ru-RU" sz="13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игровой формат.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61475" y="5884962"/>
            <a:ext cx="8023718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ru-RU" sz="1400" dirty="0" smtClean="0">
                <a:latin typeface="Segoe UI Light" pitchFamily="34" charset="0"/>
                <a:ea typeface="DM Sans Bold" pitchFamily="34" charset="-122"/>
                <a:cs typeface="Segoe UI Light" pitchFamily="34" charset="0"/>
              </a:rPr>
              <a:t>Это </a:t>
            </a:r>
            <a:r>
              <a:rPr lang="en-US" sz="1400" dirty="0" err="1" smtClean="0">
                <a:latin typeface="Segoe UI Light" pitchFamily="34" charset="0"/>
                <a:ea typeface="DM Sans Bold" pitchFamily="34" charset="-122"/>
                <a:cs typeface="Segoe UI Light" pitchFamily="34" charset="0"/>
              </a:rPr>
              <a:t>классическая</a:t>
            </a:r>
            <a:r>
              <a:rPr lang="en-US" sz="1400" dirty="0" smtClean="0">
                <a:latin typeface="Segoe UI Light" pitchFamily="34" charset="0"/>
                <a:ea typeface="DM Sans Bold" pitchFamily="34" charset="-122"/>
                <a:cs typeface="Segoe UI Light" pitchFamily="34" charset="0"/>
              </a:rPr>
              <a:t> </a:t>
            </a:r>
            <a:r>
              <a:rPr lang="en-US" sz="1400" dirty="0">
                <a:latin typeface="Segoe UI Light" pitchFamily="34" charset="0"/>
                <a:ea typeface="DM Sans Bold" pitchFamily="34" charset="-122"/>
                <a:cs typeface="Segoe UI Light" pitchFamily="34" charset="0"/>
              </a:rPr>
              <a:t>игра </a:t>
            </a:r>
            <a:r>
              <a:rPr lang="en-US" sz="1400" dirty="0" err="1">
                <a:latin typeface="Segoe UI Light" pitchFamily="34" charset="0"/>
                <a:ea typeface="DM Sans Bold" pitchFamily="34" charset="-122"/>
                <a:cs typeface="Segoe UI Light" pitchFamily="34" charset="0"/>
              </a:rPr>
              <a:t>для</a:t>
            </a:r>
            <a:r>
              <a:rPr lang="en-US" sz="1400" dirty="0">
                <a:latin typeface="Segoe UI Light" pitchFamily="34" charset="0"/>
                <a:ea typeface="DM Sans Bold" pitchFamily="34" charset="-122"/>
                <a:cs typeface="Segoe UI Light" pitchFamily="34" charset="0"/>
              </a:rPr>
              <a:t> всех, кто любит головоломки.</a:t>
            </a:r>
            <a:r>
              <a:rPr lang="en-US" sz="1400" dirty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 Универсальный возрастной диапазон делает её подходящей и </a:t>
            </a:r>
            <a:r>
              <a:rPr lang="en-US" sz="1400" dirty="0" err="1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для</a:t>
            </a:r>
            <a:r>
              <a:rPr lang="en-US" sz="1400" dirty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 занятий в классе, и </a:t>
            </a:r>
            <a:r>
              <a:rPr lang="en-US" sz="1400" dirty="0" err="1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для</a:t>
            </a:r>
            <a:r>
              <a:rPr lang="en-US" sz="1400" dirty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 игры дома всей семьёй.</a:t>
            </a:r>
            <a:endParaRPr lang="en-US" sz="1400" dirty="0">
              <a:latin typeface="Segoe UI Light" pitchFamily="34" charset="0"/>
              <a:cs typeface="Segoe UI 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3360" y="821134"/>
            <a:ext cx="4330790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Структура классов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77433" y="1621184"/>
            <a:ext cx="323494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Интерфейс (Windows Forms)</a:t>
            </a:r>
            <a:endParaRPr lang="en-US" sz="145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3360" y="1864916"/>
            <a:ext cx="2966864" cy="8394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77433" y="2032794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FormGame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477433" y="2352774"/>
            <a:ext cx="2554918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Главное меню игры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33360" y="2838351"/>
            <a:ext cx="2966864" cy="10232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77433" y="3006229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FormCategory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477433" y="3326209"/>
            <a:ext cx="255491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Выбор темы: «Животные», «Предметы», «Еда»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233360" y="3995539"/>
            <a:ext cx="2966864" cy="10232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77433" y="4163417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FormField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477433" y="4483398"/>
            <a:ext cx="255491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ru-RU" sz="115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Игровое </a:t>
            </a:r>
            <a:r>
              <a:rPr lang="en-US" sz="1150" dirty="0" err="1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поле</a:t>
            </a:r>
            <a:r>
              <a:rPr lang="en-US" sz="115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 таблицей букв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233360" y="5152727"/>
            <a:ext cx="2966864" cy="8394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77433" y="5320605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FormDevelopment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5477433" y="5640586"/>
            <a:ext cx="2554918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История сыгранных игр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8813778" y="1621184"/>
            <a:ext cx="31002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Логика игры (ООП-классы)</a:t>
            </a:r>
            <a:endParaRPr lang="en-US" sz="145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569706" y="1864916"/>
            <a:ext cx="2966864" cy="102324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13778" y="2032794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Cell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813778" y="2352774"/>
            <a:ext cx="255491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Хранит координаты X, Y и букву ячейки</a:t>
            </a:r>
            <a:endParaRPr lang="en-US" sz="11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569706" y="3022104"/>
            <a:ext cx="2966864" cy="102324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813778" y="3189982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WordOnField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8813778" y="3509963"/>
            <a:ext cx="255491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Разбивает осетинские слова на буквы и диграфы</a:t>
            </a:r>
            <a:endParaRPr lang="en-US" sz="11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8569706" y="4179292"/>
            <a:ext cx="2966864" cy="102324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813778" y="434717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BoardController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8813778" y="4667151"/>
            <a:ext cx="255491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Генератор поля: перемешивает и раскладывает слова</a:t>
            </a:r>
            <a:endParaRPr lang="en-US" sz="11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569706" y="5336480"/>
            <a:ext cx="2966864" cy="83949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813778" y="5504359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GameDictionary</a:t>
            </a:r>
            <a:endParaRPr lang="en-US" sz="1450" dirty="0"/>
          </a:p>
        </p:txBody>
      </p:sp>
      <p:sp>
        <p:nvSpPr>
          <p:cNvPr id="31" name="Text 20"/>
          <p:cNvSpPr/>
          <p:nvPr/>
        </p:nvSpPr>
        <p:spPr>
          <a:xfrm>
            <a:off x="8813778" y="5824339"/>
            <a:ext cx="2554918" cy="1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Хранит списки слов по категориям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661475" y="839688"/>
            <a:ext cx="7251816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Что сделано и что ещё предстоит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1647230"/>
            <a:ext cx="3051595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Twemoji Mozilla" pitchFamily="34" charset="-122"/>
                <a:cs typeface="Segoe UI Light" pitchFamily="34" charset="0"/>
              </a:rPr>
              <a:t>✅</a:t>
            </a:r>
            <a:r>
              <a:rPr lang="en-US" sz="2000" b="1" dirty="0" smtClean="0">
                <a:solidFill>
                  <a:srgbClr val="000000"/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 Уже </a:t>
            </a:r>
            <a:r>
              <a:rPr lang="en-US" sz="2000" b="1" dirty="0">
                <a:solidFill>
                  <a:srgbClr val="000000"/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сделано</a:t>
            </a:r>
            <a:endParaRPr lang="en-US" sz="2000" b="1" dirty="0"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90496" y="2071687"/>
            <a:ext cx="2073620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Базовая архитектура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90496" y="2435423"/>
            <a:ext cx="4706820" cy="4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Спроектированы все основные классы: </a:t>
            </a:r>
            <a:r>
              <a:rPr lang="ru-RU" sz="14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Cell</a:t>
            </a:r>
            <a:r>
              <a:rPr lang="en-US" sz="14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WordOnField, BoardController, GameDictionary.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90496" y="3175794"/>
            <a:ext cx="203502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Формы приложения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90496" y="3539530"/>
            <a:ext cx="4706820" cy="4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Реализованы FormGame, FormCategory, FormField и FormDevelopment на Windows Forms.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90496" y="4279900"/>
            <a:ext cx="203502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Словари слов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90496" y="4643636"/>
            <a:ext cx="4706820" cy="4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Сформированы </a:t>
            </a:r>
            <a:r>
              <a:rPr lang="en-US" sz="14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списки </a:t>
            </a:r>
            <a:r>
              <a:rPr lang="en-US" sz="14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слов по категориям на осетинском языке.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190496" y="5384006"/>
            <a:ext cx="2035025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Генерация поля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190496" y="5747742"/>
            <a:ext cx="4706820" cy="4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BoardController</a:t>
            </a:r>
            <a:r>
              <a:rPr lang="ru-RU" sz="14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случайным образом </a:t>
            </a:r>
            <a:r>
              <a:rPr lang="en-US" sz="1400" dirty="0" smtClean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перемешивает </a:t>
            </a:r>
            <a:r>
              <a:rPr lang="en-US" sz="14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 расставляет слова на игровом поле.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829750" y="1647230"/>
            <a:ext cx="3051595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Twemoji Mozilla" pitchFamily="34" charset="-122"/>
                <a:cs typeface="Segoe UI Light" pitchFamily="34" charset="0"/>
              </a:rPr>
              <a:t>✅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Segoe UI Light" pitchFamily="34" charset="0"/>
                <a:ea typeface="DM Sans SemiBold" pitchFamily="34" charset="-122"/>
                <a:cs typeface="Segoe UI Light" pitchFamily="34" charset="0"/>
              </a:rPr>
              <a:t>Ещё предстоит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829750" y="2071687"/>
            <a:ext cx="4706820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ru-RU" dirty="0" smtClean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В дальнейшем можно будет р</a:t>
            </a:r>
            <a:r>
              <a:rPr lang="ru-RU" dirty="0" smtClean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асширить запас слов, </a:t>
            </a:r>
            <a:r>
              <a:rPr lang="ru-RU" dirty="0" smtClean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добавить озвучивание </a:t>
            </a:r>
            <a:r>
              <a:rPr lang="ru-RU" dirty="0" smtClean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угаданных слов, а также новые </a:t>
            </a:r>
            <a:r>
              <a:rPr lang="ru-RU" dirty="0" smtClean="0">
                <a:latin typeface="Segoe UI Light" pitchFamily="34" charset="0"/>
                <a:ea typeface="DM Sans" pitchFamily="34" charset="-122"/>
                <a:cs typeface="Segoe UI Light" pitchFamily="34" charset="0"/>
              </a:rPr>
              <a:t>уровни и категории.</a:t>
            </a:r>
            <a:endParaRPr lang="en-US" dirty="0">
              <a:latin typeface="DM Sans" charset="0"/>
              <a:cs typeface="Segoe UI Light" pitchFamily="34" charset="0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966664" y="2071687"/>
            <a:ext cx="122085" cy="123754"/>
          </a:xfrm>
          <a:prstGeom prst="ellipse">
            <a:avLst/>
          </a:prstGeom>
          <a:solidFill>
            <a:srgbClr val="FFF6E5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вал 30"/>
          <p:cNvSpPr/>
          <p:nvPr/>
        </p:nvSpPr>
        <p:spPr>
          <a:xfrm>
            <a:off x="966664" y="3175794"/>
            <a:ext cx="122085" cy="123754"/>
          </a:xfrm>
          <a:prstGeom prst="ellipse">
            <a:avLst/>
          </a:prstGeom>
          <a:solidFill>
            <a:srgbClr val="FFF6E5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Овал 31"/>
          <p:cNvSpPr/>
          <p:nvPr/>
        </p:nvSpPr>
        <p:spPr>
          <a:xfrm>
            <a:off x="966664" y="4279900"/>
            <a:ext cx="122085" cy="123754"/>
          </a:xfrm>
          <a:prstGeom prst="ellipse">
            <a:avLst/>
          </a:prstGeom>
          <a:solidFill>
            <a:srgbClr val="FFF6E5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вал 32"/>
          <p:cNvSpPr/>
          <p:nvPr/>
        </p:nvSpPr>
        <p:spPr>
          <a:xfrm>
            <a:off x="966664" y="5384006"/>
            <a:ext cx="122085" cy="123754"/>
          </a:xfrm>
          <a:prstGeom prst="ellipse">
            <a:avLst/>
          </a:prstGeom>
          <a:solidFill>
            <a:srgbClr val="FFF6E5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6902450" y="1647231"/>
            <a:ext cx="209550" cy="200620"/>
          </a:xfrm>
          <a:prstGeom prst="roundRect">
            <a:avLst>
              <a:gd name="adj" fmla="val 8852"/>
            </a:avLst>
          </a:prstGeom>
          <a:solidFill>
            <a:srgbClr val="FFF6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Стрелка вправо 40"/>
          <p:cNvSpPr/>
          <p:nvPr/>
        </p:nvSpPr>
        <p:spPr>
          <a:xfrm>
            <a:off x="6940550" y="1701801"/>
            <a:ext cx="117475" cy="88900"/>
          </a:xfrm>
          <a:prstGeom prst="rightArrow">
            <a:avLst>
              <a:gd name="adj1" fmla="val 14286"/>
              <a:gd name="adj2" fmla="val 46118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308</Words>
  <Application>Microsoft Office PowerPoint</Application>
  <PresentationFormat>Произвольный</PresentationFormat>
  <Paragraphs>49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Calibri</vt:lpstr>
      <vt:lpstr>Segoe UI Light</vt:lpstr>
      <vt:lpstr>DM Sans SemiBold</vt:lpstr>
      <vt:lpstr>Segoe UI Semibold</vt:lpstr>
      <vt:lpstr>DM Sans Bold</vt:lpstr>
      <vt:lpstr>DM Sans</vt:lpstr>
      <vt:lpstr>Twemoji Mozilla</vt:lpstr>
      <vt:lpstr>Office Theme</vt:lpstr>
      <vt:lpstr>Слайд 1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Goliaf .</dc:creator>
  <cp:lastModifiedBy>Goliaf .</cp:lastModifiedBy>
  <cp:revision>13</cp:revision>
  <dcterms:created xsi:type="dcterms:W3CDTF">2026-06-29T09:54:51Z</dcterms:created>
  <dcterms:modified xsi:type="dcterms:W3CDTF">2026-06-29T11:38:09Z</dcterms:modified>
</cp:coreProperties>
</file>